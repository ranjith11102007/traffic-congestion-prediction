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Title. Framing: reactive today, forward-looking with ML. Demo only: training data is simulated and labelled as such in every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Problem: reactivity. Static timetables miss incidents, weather, peaks. Key honesty point: no vendor publishes throughput.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in five steps plus the production guard. Nothing fabricated.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component parts. Emphasise provider interface and honest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Browser -&gt; FastAPI -&gt; PostgreSQL. ML package independent of the web layer; providers behind one interface; opt-in scheduler.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6-stage pipeline. Leakage controls. Random Forest rationale. Macro F1. Provenance removes feature skew. Simulated fixture labelled.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Providers behind one interface; throttle; opt-in; provenance. Node that missing key fails loudly; NULL for vehicle_count; production guard.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Open-Meteo live-verified (HTTP 200). Fields temperature_2m, precipitation, weather_code. Throttled with traffic; weather is a model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Leaflet map + Chart.js. Honest empty states. Provenance next to forecasts. XSS: all API-derived strings escaped.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450 tests, no external services. Results are demo-only: macro F1 0.737, accuracy 0.856 vs baseline 0.214/0.750. Not real-traffic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 scope: benefits of the engineering, limitations stated clearly, next steps. Nothing fabricated.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Closing. Honest scope + next steps.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4572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45775" cy="3657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9DC3E6"/>
                </a:solidFill>
                <a:latin typeface="Calibri"/>
              </a:rPr>
              <a:t>PROJECT REPORT – AI-BASED URBAN TRAFFIC CONGESTION PREDICTION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545775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AI-Based Urban Traffic
Congestion Prediction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4343400"/>
            <a:ext cx="889985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A machine-learning pipeline that predicts per-road-segment congestion ahead of time and visualises it on a live dashboard.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7492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DC3E6"/>
                </a:solidFill>
                <a:latin typeface="Calibri"/>
              </a:rPr>
              <a:t>Collect  →  Predict  →  Visualise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5715000"/>
            <a:ext cx="2743200" cy="566928"/>
          </a:xfrm>
          <a:prstGeom prst="roundRect">
            <a:avLst>
              <a:gd name="adj" fmla="val 25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715000"/>
            <a:ext cx="2743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Stages 1–8 complete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5715000"/>
            <a:ext cx="2743200" cy="566928"/>
          </a:xfrm>
          <a:prstGeom prst="roundRect">
            <a:avLst>
              <a:gd name="adj" fmla="val 25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5715000"/>
            <a:ext cx="2743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450 automated tests passing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5715000"/>
            <a:ext cx="2743200" cy="566928"/>
          </a:xfrm>
          <a:prstGeom prst="roundRect">
            <a:avLst>
              <a:gd name="adj" fmla="val 25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5715000"/>
            <a:ext cx="2743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Report + deck included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4114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9DC3E6"/>
                </a:solidFill>
                <a:latin typeface="Calibri"/>
              </a:rPr>
              <a:t>SLIDE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Problem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528816"/>
            <a:ext cx="11094415" cy="12801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110944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6565392"/>
            <a:ext cx="8229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AI-Based Urban Traffic Congestion Prediction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6565392"/>
            <a:ext cx="3017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Page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737360"/>
            <a:ext cx="10545775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864"/>
                </a:solidFill>
                <a:latin typeface="Calibri"/>
              </a:rPr>
              <a:t>•  Congestion is discovered too late – commuters learn about it when they are already inside it.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864"/>
                </a:solidFill>
                <a:latin typeface="Calibri"/>
              </a:rPr>
              <a:t>•  Reactive traffic control answers “where is it congested now?”, not “will this road be congested in 30 minutes?”.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864"/>
                </a:solidFill>
                <a:latin typeface="Calibri"/>
              </a:rPr>
              <a:t>•  Static timetables cannot capture incidents, weather and peak-hour variation.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864"/>
                </a:solidFill>
                <a:latin typeface="Calibri"/>
              </a:rPr>
              <a:t>•  The question that changes behaviour is forward-looking and per road segment.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864"/>
                </a:solidFill>
                <a:latin typeface="Calibri"/>
              </a:rPr>
              <a:t>•  The gaps a data-driven system must fill: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1F3864"/>
                </a:solidFill>
                <a:latin typeface="Calibri"/>
              </a:rPr>
              <a:t>      –  no vendor publishes traffic throughput, so vehicle_count is stored as unknown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1F3864"/>
                </a:solidFill>
                <a:latin typeface="Calibri"/>
              </a:rPr>
              <a:t>      –  any system that pretends to know real traffic volume is fabricating 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257800"/>
            <a:ext cx="10545775" cy="914400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Need: a forward-looking per-segment congestion estimate that is honest about what it can and cannot know.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4114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9DC3E6"/>
                </a:solidFill>
                <a:latin typeface="Calibri"/>
              </a:rPr>
              <a:t>SLIDE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Objectives and Approach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528816"/>
            <a:ext cx="11094415" cy="12801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110944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6565392"/>
            <a:ext cx="8229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AI-Based Urban Traffic Congestion Prediction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6565392"/>
            <a:ext cx="3017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Page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691640"/>
            <a:ext cx="10545775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864"/>
                </a:solidFill>
                <a:latin typeface="Calibri"/>
              </a:rPr>
              <a:t>•  Collect  –  real urban traffic observations into PostgreSQL, with provenance on every row.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864"/>
                </a:solidFill>
                <a:latin typeface="Calibri"/>
              </a:rPr>
              <a:t>•  Engineer  –  leakage-safe features from time, road geometry and weather.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864"/>
                </a:solidFill>
                <a:latin typeface="Calibri"/>
              </a:rPr>
              <a:t>•  Train  –  a Random Forest classifier and score it against an honest majority-class baseline.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864"/>
                </a:solidFill>
                <a:latin typeface="Calibri"/>
              </a:rPr>
              <a:t>•  Serve  –  documented REST API returning one error envelope.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864"/>
                </a:solidFill>
                <a:latin typeface="Calibri"/>
              </a:rPr>
              <a:t>•  Show  –  current and predicted congestion on a map and charts.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864"/>
                </a:solidFill>
                <a:latin typeface="Calibri"/>
              </a:rPr>
              <a:t>•  Guard  –  boot-time production guard so a misconfigured deployment fails loudly instead of silently serving simulation.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303520"/>
            <a:ext cx="10545775" cy="822960"/>
          </a:xfrm>
          <a:prstGeom prst="roundRect">
            <a:avLst>
              <a:gd name="adj" fmla="val 6000"/>
            </a:avLst>
          </a:prstGeom>
          <a:solidFill>
            <a:srgbClr val="F2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E74B5"/>
                </a:solidFill>
                <a:latin typeface="Calibri"/>
              </a:rPr>
              <a:t>Every result traceable to data; nothing fabricated.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4114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9DC3E6"/>
                </a:solidFill>
                <a:latin typeface="Calibri"/>
              </a:rPr>
              <a:t>SLIDE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Proposed Solution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528816"/>
            <a:ext cx="11094415" cy="12801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110944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6565392"/>
            <a:ext cx="8229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AI-Based Urban Traffic Congestion Prediction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6565392"/>
            <a:ext cx="3017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Page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737360"/>
            <a:ext cx="3246120" cy="2011680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/>
          <a:lstStyle/>
          <a:p>
            <a:pPr algn="ctr"/>
            <a:r>
              <a:rPr b="1" sz="1300">
                <a:solidFill>
                  <a:srgbClr val="1F3864"/>
                </a:solidFill>
                <a:latin typeface="Calibri"/>
              </a:rPr>
              <a:t>Data ingestion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provider interface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labelled simulation OR live TomTom + Open-Meteo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737360"/>
            <a:ext cx="3246120" cy="2011680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/>
          <a:lstStyle/>
          <a:p>
            <a:pPr algn="ctr"/>
            <a:r>
              <a:rPr b="1" sz="1300">
                <a:solidFill>
                  <a:srgbClr val="1F3864"/>
                </a:solidFill>
                <a:latin typeface="Calibri"/>
              </a:rPr>
              <a:t>Pipeline + model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6-stage, leakage-controlled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Random Forest v4.0.0, 26 features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artifacts carry provenance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737360"/>
            <a:ext cx="3246120" cy="2011680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/>
          <a:lstStyle/>
          <a:p>
            <a:pPr algn="ctr"/>
            <a:r>
              <a:rPr b="1" sz="1300">
                <a:solidFill>
                  <a:srgbClr val="1F3864"/>
                </a:solidFill>
                <a:latin typeface="Calibri"/>
              </a:rPr>
              <a:t>Prediction engine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scored against segment history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insufficient history = explicit error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977639"/>
            <a:ext cx="3246120" cy="2011680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/>
          <a:lstStyle/>
          <a:p>
            <a:pPr algn="ctr"/>
            <a:r>
              <a:rPr b="1" sz="1300">
                <a:solidFill>
                  <a:srgbClr val="1F3864"/>
                </a:solidFill>
                <a:latin typeface="Calibri"/>
              </a:rPr>
              <a:t>Dashboard API + frontend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5 aggregation endpoints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Leaflet map + Chart.js analytics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3977639"/>
            <a:ext cx="3246120" cy="2011680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/>
          <a:lstStyle/>
          <a:p>
            <a:pPr algn="ctr"/>
            <a:r>
              <a:rPr b="1" sz="1300">
                <a:solidFill>
                  <a:srgbClr val="1F3864"/>
                </a:solidFill>
                <a:latin typeface="Calibri"/>
              </a:rPr>
              <a:t>Production guard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no silent simulation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fails at boot naming the missing setting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977639"/>
            <a:ext cx="3246120" cy="2011680"/>
          </a:xfrm>
          <a:prstGeom prst="roundRect">
            <a:avLst>
              <a:gd name="adj" fmla="val 8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F3864"/>
                </a:solidFill>
                <a:latin typeface="Calibri"/>
              </a:rPr>
              <a:t>One interface, two providers, one honest pipeline</a:t>
            </a:r>
          </a:p>
          <a:p>
            <a:pPr algn="ctr"/>
            <a:r>
              <a:rPr sz="1200">
                <a:solidFill>
                  <a:srgbClr val="595959"/>
                </a:solidFill>
                <a:latin typeface="Calibri"/>
              </a:rPr>
              <a:t>Nothing downstream builds on an unproven assumption.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4114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9DC3E6"/>
                </a:solidFill>
                <a:latin typeface="Calibri"/>
              </a:rPr>
              <a:t>SLIDE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System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528816"/>
            <a:ext cx="11094415" cy="12801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110944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6565392"/>
            <a:ext cx="8229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AI-Based Urban Traffic Congestion Prediction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6565392"/>
            <a:ext cx="3017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Page 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600200"/>
            <a:ext cx="3063240" cy="7772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/>
          <a:lstStyle/>
          <a:p>
            <a:pPr algn="ctr"/>
            <a:r>
              <a:rPr b="1" sz="1300">
                <a:solidFill>
                  <a:srgbClr val="1F3864"/>
                </a:solidFill>
                <a:latin typeface="Calibri"/>
              </a:rPr>
              <a:t>Browser / Frontend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static HTML5 + CSS3 + JS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Leaflet map · Chart.js · auto-refresh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815584" y="2395728"/>
            <a:ext cx="548640" cy="365760"/>
          </a:xfrm>
          <a:prstGeom prst="down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89120" y="2816352"/>
            <a:ext cx="3383280" cy="914400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/>
          <a:lstStyle/>
          <a:p>
            <a:pPr algn="ctr"/>
            <a:r>
              <a:rPr b="1" sz="1300">
                <a:solidFill>
                  <a:srgbClr val="1F3864"/>
                </a:solidFill>
                <a:latin typeface="Calibri"/>
              </a:rPr>
              <a:t>FastAPI backend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api/ · schemas/ · services/ · repositories/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one error envelope · CORS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816352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/>
          <a:lstStyle/>
          <a:p>
            <a:pPr algn="ctr"/>
            <a:r>
              <a:rPr b="1" sz="1300">
                <a:solidFill>
                  <a:srgbClr val="1F3864"/>
                </a:solidFill>
                <a:latin typeface="Calibri"/>
              </a:rPr>
              <a:t>Data providers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Simulated (labelled)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Real: TomTom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Weather: Open-Meteo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584448" y="3127248"/>
            <a:ext cx="777240" cy="237744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803904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595959"/>
                </a:solidFill>
                <a:latin typeface="Calibri"/>
              </a:rPr>
              <a:t>opt-in scheduler:  collect → predict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3127248" y="4041648"/>
            <a:ext cx="548640" cy="320040"/>
          </a:xfrm>
          <a:prstGeom prst="down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wn Arrow 16"/>
          <p:cNvSpPr/>
          <p:nvPr/>
        </p:nvSpPr>
        <p:spPr>
          <a:xfrm>
            <a:off x="8522208" y="4041648"/>
            <a:ext cx="548640" cy="320040"/>
          </a:xfrm>
          <a:prstGeom prst="down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737360" y="4434840"/>
            <a:ext cx="3840480" cy="1097280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/>
          <a:lstStyle/>
          <a:p>
            <a:pPr algn="ctr"/>
            <a:r>
              <a:rPr b="1" sz="1300">
                <a:solidFill>
                  <a:srgbClr val="1F3864"/>
                </a:solidFill>
                <a:latin typeface="Calibri"/>
              </a:rPr>
              <a:t>ML pipeline  (ml/)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Random Forest v4.0.0 · 26 features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offline train / evaluate / predict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independent of the web layer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29400" y="4434840"/>
            <a:ext cx="3840480" cy="1097280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/>
          <a:lstStyle/>
          <a:p>
            <a:pPr algn="ctr"/>
            <a:r>
              <a:rPr b="1" sz="1300">
                <a:solidFill>
                  <a:srgbClr val="1F3864"/>
                </a:solidFill>
                <a:latin typeface="Calibri"/>
              </a:rPr>
              <a:t>PostgreSQL 14+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traffic_observations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traffic_predictions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Alembic migrations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4114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9DC3E6"/>
                </a:solidFill>
                <a:latin typeface="Calibri"/>
              </a:rPr>
              <a:t>SLIDE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Data &amp; ML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528816"/>
            <a:ext cx="11094415" cy="12801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110944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6565392"/>
            <a:ext cx="8229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AI-Based Urban Traffic Congestion Prediction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6565392"/>
            <a:ext cx="3017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Page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737360"/>
            <a:ext cx="10545775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74B5"/>
                </a:solidFill>
                <a:latin typeface="Calibri"/>
              </a:rPr>
              <a:t>Six-stage offline pipeline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377440"/>
            <a:ext cx="1691640" cy="685800"/>
          </a:xfrm>
          <a:prstGeom prst="roundRect">
            <a:avLst>
              <a:gd name="adj" fmla="val 15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77440"/>
            <a:ext cx="1691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Load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51760" y="2377440"/>
            <a:ext cx="1691640" cy="685800"/>
          </a:xfrm>
          <a:prstGeom prst="roundRect">
            <a:avLst>
              <a:gd name="adj" fmla="val 15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1760" y="2377440"/>
            <a:ext cx="1691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Validate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0" y="2377440"/>
            <a:ext cx="1691640" cy="685800"/>
          </a:xfrm>
          <a:prstGeom prst="roundRect">
            <a:avLst>
              <a:gd name="adj" fmla="val 15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2377440"/>
            <a:ext cx="1691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Clean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2377440"/>
            <a:ext cx="1691640" cy="685800"/>
          </a:xfrm>
          <a:prstGeom prst="roundRect">
            <a:avLst>
              <a:gd name="adj" fmla="val 15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2377440"/>
            <a:ext cx="1691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Featurise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2377440"/>
            <a:ext cx="1691640" cy="685800"/>
          </a:xfrm>
          <a:prstGeom prst="roundRect">
            <a:avLst>
              <a:gd name="adj" fmla="val 15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2377440"/>
            <a:ext cx="1691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Target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66960" y="2377440"/>
            <a:ext cx="1691640" cy="685800"/>
          </a:xfrm>
          <a:prstGeom prst="roundRect">
            <a:avLst>
              <a:gd name="adj" fmla="val 15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66960" y="2377440"/>
            <a:ext cx="1691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Write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3429000"/>
            <a:ext cx="10545775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864"/>
                </a:solidFill>
                <a:latin typeface="Calibri"/>
              </a:rPr>
              <a:t>•  Leakage controls: contemporaneous measurements refused at training AND at the API boundary; backward-only lags; chronological split.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864"/>
                </a:solidFill>
                <a:latin typeface="Calibri"/>
              </a:rPr>
              <a:t>•  Random Forest – strong on tabular data, little tuning, feature importances explain predictions.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864"/>
                </a:solidFill>
                <a:latin typeface="Calibri"/>
              </a:rPr>
              <a:t>•  4 congestion levels (free flow / moderate / heavy / severe).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864"/>
                </a:solidFill>
                <a:latin typeface="Calibri"/>
              </a:rPr>
              <a:t>•  Macro F1 is the headline metric – accuracy optimisers ignore rare severe congestion.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864"/>
                </a:solidFill>
                <a:latin typeface="Calibri"/>
              </a:rPr>
              <a:t>•  Every artifact stores its own feature order + provenance – no train/serve feature-skew failure mode, and the fixture is labelled simulated.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4114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9DC3E6"/>
                </a:solidFill>
                <a:latin typeface="Calibri"/>
              </a:rPr>
              <a:t>SLIDE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Real-Time Traffic Collection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528816"/>
            <a:ext cx="11094415" cy="12801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110944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6565392"/>
            <a:ext cx="8229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AI-Based Urban Traffic Congestion Prediction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6565392"/>
            <a:ext cx="3017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Page 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737360"/>
            <a:ext cx="3383280" cy="3200400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/>
          <a:lstStyle/>
          <a:p>
            <a:pPr algn="ctr"/>
            <a:r>
              <a:rPr b="1" sz="1300">
                <a:solidFill>
                  <a:srgbClr val="1F3864"/>
                </a:solidFill>
                <a:latin typeface="Calibri"/>
              </a:rPr>
              <a:t>Provider interface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SimulatedTrafficProvider – labelled, always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RealTrafficProvider – TomTom Flow Segment Data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WeatherProvider – Open-Meteo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one code path for scheduled + manual POST /collect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737360"/>
            <a:ext cx="3383280" cy="3200400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/>
          <a:lstStyle/>
          <a:p>
            <a:pPr algn="ctr"/>
            <a:r>
              <a:rPr b="1" sz="1300">
                <a:solidFill>
                  <a:srgbClr val="1F3864"/>
                </a:solidFill>
                <a:latin typeface="Calibri"/>
              </a:rPr>
              <a:t>Collection behaviour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throttled per cycle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opt-in via COLLECTION_ENABLED=true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timestamped with source provenance on every row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stored first, predicted second (auto-prediction)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1737360"/>
            <a:ext cx="3383280" cy="3200400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/>
          <a:lstStyle/>
          <a:p>
            <a:pPr algn="ctr"/>
            <a:r>
              <a:rPr b="1" sz="1300">
                <a:solidFill>
                  <a:srgbClr val="1F3864"/>
                </a:solidFill>
                <a:latin typeface="Calibri"/>
              </a:rPr>
              <a:t>Honesty + failure mode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missing provider key fails loudly, never silently simulated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vehicle_count unknown → stored as NULL (no vendor publishes throughput)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production requires TRAFFIC_PROVIDER=real + TRAFFIC_API_KEY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no self-serve throughput API – a system claiming volume fabricates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25780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8A6D1D"/>
                </a:solidFill>
                <a:latin typeface="Calibri"/>
              </a:rPr>
              <a:t>Live outside the suite: Open-Meteo call verified (HTTP 200). TomTom needs a real key.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4114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9DC3E6"/>
                </a:solidFill>
                <a:latin typeface="Calibri"/>
              </a:rPr>
              <a:t>SLIDE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Weather Integration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528816"/>
            <a:ext cx="11094415" cy="12801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110944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6565392"/>
            <a:ext cx="8229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AI-Based Urban Traffic Congestion Prediction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6565392"/>
            <a:ext cx="3017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Page 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783080"/>
            <a:ext cx="4572000" cy="640080"/>
          </a:xfrm>
          <a:prstGeom prst="roundRect">
            <a:avLst>
              <a:gd name="adj" fmla="val 18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783080"/>
            <a:ext cx="45720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Open-Meteo  –  no API key required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413248" y="1984248"/>
            <a:ext cx="548640" cy="237744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80176" y="1783080"/>
            <a:ext cx="5394960" cy="640080"/>
          </a:xfrm>
          <a:prstGeom prst="roundRect">
            <a:avLst>
              <a:gd name="adj" fmla="val 1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0176" y="1783080"/>
            <a:ext cx="5394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appended to each observation before featurisation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743200"/>
            <a:ext cx="1054577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864"/>
                </a:solidFill>
                <a:latin typeface="Calibri"/>
              </a:rPr>
              <a:t>•  Live call verified in this project: HTTP 200, fields current.temperature_2m, current.precipitation, current.weather_code.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864"/>
                </a:solidFill>
                <a:latin typeface="Calibri"/>
              </a:rPr>
              <a:t>•  Weather cycles share the throttled provider pipeline – one cycle, weather + traffic together.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864"/>
                </a:solidFill>
                <a:latin typeface="Calibri"/>
              </a:rPr>
              <a:t>•  Weather fields become model features alongside time and road geometry.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864"/>
                </a:solidFill>
                <a:latin typeface="Calibri"/>
              </a:rPr>
              <a:t>•  In production the weather provider keeps working with TRAFFIC_PROVIDER=real.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864"/>
                </a:solidFill>
                <a:latin typeface="Calibri"/>
              </a:rPr>
              <a:t>•  Weather is standard practice for congestion models – rain and temperature shift speed distributions.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303520"/>
            <a:ext cx="10545775" cy="822960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Calibri"/>
              </a:rPr>
              <a:t>No key, no fabrications – the weather source was exercised live.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4114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9DC3E6"/>
                </a:solidFill>
                <a:latin typeface="Calibri"/>
              </a:rPr>
              <a:t>SLIDE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528816"/>
            <a:ext cx="11094415" cy="12801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110944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6565392"/>
            <a:ext cx="8229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AI-Based Urban Traffic Congestion Prediction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6565392"/>
            <a:ext cx="3017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Page 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737360"/>
            <a:ext cx="10545775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864"/>
                </a:solidFill>
                <a:latin typeface="Calibri"/>
              </a:rPr>
              <a:t>•  Leaflet map coloured by predicted congestion class (free / moderate / heavy / severe).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864"/>
                </a:solidFill>
                <a:latin typeface="Calibri"/>
              </a:rPr>
              <a:t>•  Chart.js trend chart – speed vs forecast over 1 / 6 / 12 / 24 hours.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864"/>
                </a:solidFill>
                <a:latin typeface="Calibri"/>
              </a:rPr>
              <a:t>•  Auto-refresh; live traffic tab → map → analytics → system status.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864"/>
                </a:solidFill>
                <a:latin typeface="Calibri"/>
              </a:rPr>
              <a:t>•  Five aggregation endpoints: current, trends, locations, status, model – fixed queries, no N+1.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864"/>
                </a:solidFill>
                <a:latin typeface="Calibri"/>
              </a:rPr>
              <a:t>•  Honest empty states – “N/A” is never a fabricated zero; uncollected roads report null and unavailable.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864"/>
                </a:solidFill>
                <a:latin typeface="Calibri"/>
              </a:rPr>
              <a:t>•  Model provenance shown next to every forecast (dataset_is_simulated: true), and every API-derived string is HTML-escaped before it reaches the page.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4114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9DC3E6"/>
                </a:solidFill>
                <a:latin typeface="Calibri"/>
              </a:rPr>
              <a:t>SLIDE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Testing &amp; Results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528816"/>
            <a:ext cx="11094415" cy="12801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110944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6565392"/>
            <a:ext cx="8229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AI-Based Urban Traffic Congestion Prediction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6565392"/>
            <a:ext cx="3017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Page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737360"/>
            <a:ext cx="5852160" cy="3931920"/>
          </a:xfrm>
          <a:prstGeom prst="roundRect">
            <a:avLst>
              <a:gd name="adj" fmla="val 5000"/>
            </a:avLst>
          </a:prstGeom>
          <a:solidFill>
            <a:srgbClr val="F2F6FC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1874519"/>
            <a:ext cx="53949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00" b="1" i="0">
                <a:solidFill>
                  <a:srgbClr val="1F3864"/>
                </a:solidFill>
                <a:latin typeface="Calibri"/>
              </a:rPr>
              <a:t>Verification – 450 automated tests</a:t>
            </a:r>
            <a:r>
              <a:rPr sz="1300" b="0" i="0">
                <a:solidFill>
                  <a:srgbClr val="1F3864"/>
                </a:solidFill>
                <a:latin typeface="Calibri"/>
              </a:rPr>
              <a:t>•  observe → predict → persist against the real artifact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F3864"/>
                </a:solidFill>
                <a:latin typeface="Calibri"/>
              </a:rPr>
              <a:t>•  every dashboard endpoint, freshness boundaries, fixed query counts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F3864"/>
                </a:solidFill>
                <a:latin typeface="Calibri"/>
              </a:rPr>
              <a:t>•  Alembic: apply → verify → reverse → re-apply + offline PostgreSQL DDL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F3864"/>
                </a:solidFill>
                <a:latin typeface="Calibri"/>
              </a:rPr>
              <a:t>•  provider contracts via mocked transports; security + secret-leak tests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F3864"/>
                </a:solidFill>
                <a:latin typeface="Calibri"/>
              </a:rPr>
              <a:t>•  Stage 8: production-guard + XSS tests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F3864"/>
                </a:solidFill>
                <a:latin typeface="Calibri"/>
              </a:rPr>
              <a:t>•  no external services required to run the suite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95160" y="1737360"/>
            <a:ext cx="4389120" cy="3931920"/>
          </a:xfrm>
          <a:prstGeom prst="roundRect">
            <a:avLst>
              <a:gd name="adj" fmla="val 5000"/>
            </a:avLst>
          </a:prstGeom>
          <a:solidFill>
            <a:srgbClr val="DCE6F1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69480" y="1965960"/>
            <a:ext cx="384048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Calibri"/>
              </a:rPr>
              <a:t>On the simulated fixture</a:t>
            </a:r>
          </a:p>
          <a:p>
            <a:pPr algn="l">
              <a:spcBef>
                <a:spcPts val="1200"/>
              </a:spcBef>
              <a:spcAft>
                <a:spcPts val="400"/>
              </a:spcAft>
            </a:pPr>
            <a:r>
              <a:rPr sz="2400" b="1" i="0">
                <a:solidFill>
                  <a:srgbClr val="548235"/>
                </a:solidFill>
                <a:latin typeface="Calibri"/>
              </a:rPr>
              <a:t>macro F1   0.737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548235"/>
                </a:solidFill>
                <a:latin typeface="Calibri"/>
              </a:rPr>
              <a:t>accuracy   0.856</a:t>
            </a:r>
          </a:p>
          <a:p>
            <a:pPr algn="l">
              <a:spcBef>
                <a:spcPts val="1000"/>
              </a:spcBef>
              <a:spcAft>
                <a:spcPts val="4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vs majority-class baseline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595959"/>
                </a:solidFill>
                <a:latin typeface="Calibri"/>
              </a:rPr>
              <a:t>macro F1 0.214 · accuracy 0.750</a:t>
            </a:r>
          </a:p>
          <a:p>
            <a:pPr algn="l">
              <a:spcBef>
                <a:spcPts val="1400"/>
              </a:spcBef>
              <a:spcAft>
                <a:spcPts val="400"/>
              </a:spcAft>
            </a:pPr>
            <a:r>
              <a:rPr sz="1200" b="0" i="1">
                <a:solidFill>
                  <a:srgbClr val="8A6D1D"/>
                </a:solidFill>
                <a:latin typeface="Calibri"/>
              </a:rPr>
              <a:t>These numbers show the pipeline runs – they are not a statement about real traffic.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4114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9DC3E6"/>
                </a:solidFill>
                <a:latin typeface="Calibri"/>
              </a:rPr>
              <a:t>SLIDE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Benefits · Limitations · Future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528816"/>
            <a:ext cx="11094415" cy="12801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110944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6565392"/>
            <a:ext cx="8229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AI-Based Urban Traffic Congestion Prediction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6565392"/>
            <a:ext cx="3017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Page 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737360"/>
            <a:ext cx="3520440" cy="4023360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/>
          <a:lstStyle/>
          <a:p>
            <a:pPr algn="ctr"/>
            <a:r>
              <a:rPr b="1" sz="1300">
                <a:solidFill>
                  <a:srgbClr val="1F3864"/>
                </a:solidFill>
                <a:latin typeface="Calibri"/>
              </a:rPr>
              <a:t>Benefits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honest, fully labelled pipeline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leakage-safe evaluation with baseline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retraining-ready for a real dataset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provenance removes feature skew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production guard + XSS hardening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no external services needed to test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1737360"/>
            <a:ext cx="3520440" cy="4023360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/>
          <a:lstStyle/>
          <a:p>
            <a:pPr algn="ctr"/>
            <a:r>
              <a:rPr b="1" sz="1300">
                <a:solidFill>
                  <a:srgbClr val="1F3864"/>
                </a:solidFill>
                <a:latin typeface="Calibri"/>
              </a:rPr>
              <a:t>Limitations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training data is a simulated fixture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vehicle_count NULL on live readings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no historical feed yet – scheduler accumulates it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API unauthenticated until a gateway is added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737360"/>
            <a:ext cx="3154680" cy="4023360"/>
          </a:xfrm>
          <a:prstGeom prst="roundRect">
            <a:avLst>
              <a:gd name="adj" fmla="val 10000"/>
            </a:avLst>
          </a:prstGeom>
          <a:solidFill>
            <a:srgbClr val="F2F6FC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/>
          <a:lstStyle/>
          <a:p>
            <a:pPr algn="ctr"/>
            <a:r>
              <a:rPr b="1" sz="1300">
                <a:solidFill>
                  <a:srgbClr val="1F3864"/>
                </a:solidFill>
                <a:latin typeface="Calibri"/>
              </a:rPr>
              <a:t>Future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retrain + revalidate on real ground truth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Docker image + CI running the suite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gateway auth and rate limiting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595959"/>
                </a:solidFill>
                <a:latin typeface="Calibri"/>
              </a:rPr>
              <a:t>–  live TomTom + PostgreSQL round-trip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9DC3E6"/>
                </a:solidFill>
                <a:latin typeface="Calibri"/>
              </a:rPr>
              <a:t>SLIDE 12 ·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A working, honest end-to-end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2651760"/>
            <a:ext cx="926561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Collect → predict → visualise, verified by 450 automated tests.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Leakage-safe machine learning with provenance on every artifact.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Demonstrated – not field-validated: forecasts improve once real ground truth flows through the same tested pipeline.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Ready for retraining, containerisation and public deployment hardening.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4924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9DC3E6"/>
                </a:solidFill>
                <a:latin typeface="Calibri"/>
              </a:rPr>
              <a:t>Questions.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2648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Project report, deployment guide and full API docs shipped alongside the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